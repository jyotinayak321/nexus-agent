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5" r:id="rId9"/>
    <p:sldId id="261" r:id="rId10"/>
  </p:sldIdLst>
  <p:sldSz cx="9144000" cy="5143500" type="screen16x9"/>
  <p:notesSz cx="5143500" cy="9144000"/>
  <p:embeddedFontLst>
    <p:embeddedFont>
      <p:font typeface="Calibri" panose="020F0502020204030204"/>
      <p:regular r:id="rId14"/>
      <p:bold r:id="rId15"/>
      <p:italic r:id="rId16"/>
      <p:boldItalic r:id="rId17"/>
    </p:embeddedFont>
    <p:embeddedFont>
      <p:font typeface="Quattrocento Sans" panose="020B0502050000020003"/>
      <p:regular r:id="rId18"/>
      <p:bold r:id="rId19"/>
      <p:italic r:id="rId20"/>
      <p:boldItalic r:id="rId21"/>
    </p:embeddedFont>
    <p:embeddedFont>
      <p:font typeface="Bookman Old Style" panose="02050604050505020204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11.fntdata"/><Relationship Id="rId23" Type="http://schemas.openxmlformats.org/officeDocument/2006/relationships/font" Target="fonts/font10.fntdata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8" name="Google Shape;25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0.png"/><Relationship Id="rId18" Type="http://schemas.openxmlformats.org/officeDocument/2006/relationships/image" Target="../media/image1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0.png"/><Relationship Id="rId18" Type="http://schemas.openxmlformats.org/officeDocument/2006/relationships/image" Target="../media/image1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0.png"/><Relationship Id="rId18" Type="http://schemas.openxmlformats.org/officeDocument/2006/relationships/image" Target="../media/image1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0.png"/><Relationship Id="rId18" Type="http://schemas.openxmlformats.org/officeDocument/2006/relationships/image" Target="../media/image1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0.png"/><Relationship Id="rId18" Type="http://schemas.openxmlformats.org/officeDocument/2006/relationships/image" Target="../media/image1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0.png"/><Relationship Id="rId18" Type="http://schemas.openxmlformats.org/officeDocument/2006/relationships/image" Target="../media/image1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1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15;p1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7;p1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1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1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1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" name="Google Shape;24;p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1" name="Google Shape;31;p1" descr="preencoded.png"/>
          <p:cNvPicPr preferRelativeResize="0"/>
          <p:nvPr/>
        </p:nvPicPr>
        <p:blipFill rotWithShape="1">
          <a:blip r:embed="rId6">
            <a:alphaModFix amt="2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4" name="Google Shape;34;p1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1097235" y="771525"/>
            <a:ext cx="21431" cy="21431"/>
          </a:xfrm>
          <a:prstGeom prst="ellipse">
            <a:avLst/>
          </a:prstGeom>
          <a:solidFill>
            <a:srgbClr val="3ECFCF">
              <a:alpha val="1803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772400" y="1285875"/>
            <a:ext cx="14288" cy="14288"/>
          </a:xfrm>
          <a:prstGeom prst="ellipse">
            <a:avLst/>
          </a:prstGeom>
          <a:solidFill>
            <a:srgbClr val="C9A84C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31453" y="3600450"/>
            <a:ext cx="28575" cy="28575"/>
          </a:xfrm>
          <a:prstGeom prst="ellipse">
            <a:avLst/>
          </a:prstGeom>
          <a:solidFill>
            <a:srgbClr val="3ECFC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8412435" y="3086100"/>
            <a:ext cx="14288" cy="14288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2743200" y="4114800"/>
            <a:ext cx="21431" cy="21431"/>
          </a:xfrm>
          <a:prstGeom prst="ellipse">
            <a:avLst/>
          </a:prstGeom>
          <a:solidFill>
            <a:srgbClr val="C9A84C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029200" y="925785"/>
            <a:ext cx="14288" cy="14288"/>
          </a:xfrm>
          <a:prstGeom prst="ellipse">
            <a:avLst/>
          </a:prstGeom>
          <a:solidFill>
            <a:srgbClr val="3ECFC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400800" y="3857625"/>
            <a:ext cx="35719" cy="35719"/>
          </a:xfrm>
          <a:prstGeom prst="ellipse">
            <a:avLst/>
          </a:prstGeom>
          <a:solidFill>
            <a:srgbClr val="C9A84C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8686800" y="2057400"/>
            <a:ext cx="14288" cy="14288"/>
          </a:xfrm>
          <a:prstGeom prst="ellipse">
            <a:avLst/>
          </a:prstGeom>
          <a:solidFill>
            <a:srgbClr val="3ECFCF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572000" y="4526235"/>
            <a:ext cx="21431" cy="21431"/>
          </a:xfrm>
          <a:prstGeom prst="ellipse">
            <a:avLst/>
          </a:prstGeom>
          <a:solidFill>
            <a:srgbClr val="3ECFC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57200" y="1800225"/>
            <a:ext cx="14288" cy="14288"/>
          </a:xfrm>
          <a:prstGeom prst="ellipse">
            <a:avLst/>
          </a:prstGeom>
          <a:solidFill>
            <a:srgbClr val="C9A84C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7132253" y="2571750"/>
            <a:ext cx="28575" cy="28575"/>
          </a:xfrm>
          <a:prstGeom prst="ellipse">
            <a:avLst/>
          </a:prstGeom>
          <a:solidFill>
            <a:srgbClr val="3ECFCF">
              <a:alpha val="705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3657600" y="514350"/>
            <a:ext cx="14288" cy="14288"/>
          </a:xfrm>
          <a:prstGeom prst="ellipse">
            <a:avLst/>
          </a:prstGeom>
          <a:solidFill>
            <a:srgbClr val="C9A84C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115916" y="1712890"/>
            <a:ext cx="912056" cy="250031"/>
          </a:xfrm>
          <a:prstGeom prst="rect">
            <a:avLst/>
          </a:prstGeom>
          <a:noFill/>
          <a:ln>
            <a:noFill/>
          </a:ln>
          <a:effectLst>
            <a:outerShdw blurRad="171450" dist="50800" dir="16200000" algn="bl" rotWithShape="0">
              <a:srgbClr val="C9A84C">
                <a:alpha val="50196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87"/>
              <a:buFont typeface="Quattrocento Sans" panose="020B0502050000020003"/>
              <a:buNone/>
            </a:pPr>
            <a:r>
              <a:rPr lang="en-US" sz="1690" b="0" i="0" u="none" strike="noStrike" cap="none">
                <a:solidFill>
                  <a:srgbClr val="C9A84C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♛ ♛ ♛</a:t>
            </a:r>
            <a:endParaRPr sz="169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558178" y="2029141"/>
            <a:ext cx="6276771" cy="543081"/>
          </a:xfrm>
          <a:prstGeom prst="rect">
            <a:avLst/>
          </a:prstGeom>
          <a:noFill/>
          <a:ln>
            <a:noFill/>
          </a:ln>
          <a:effectLst>
            <a:outerShdw blurRad="190500" dist="50800" dir="16200000" algn="bl" rotWithShape="0">
              <a:srgbClr val="C9A84C">
                <a:alpha val="5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 panose="020B0604020202020204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NEXUS</a:t>
            </a:r>
            <a:endParaRPr sz="36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9" name="Google Shape;49;p1" descr="preencoded.png"/>
          <p:cNvPicPr preferRelativeResize="0"/>
          <p:nvPr/>
        </p:nvPicPr>
        <p:blipFill rotWithShape="1">
          <a:blip r:embed="rId9">
            <a:alphaModFix amt="70000"/>
          </a:blip>
          <a:srcRect/>
          <a:stretch>
            <a:fillRect/>
          </a:stretch>
        </p:blipFill>
        <p:spPr>
          <a:xfrm>
            <a:off x="3786188" y="3173164"/>
            <a:ext cx="1571625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/>
        </p:nvSpPr>
        <p:spPr>
          <a:xfrm>
            <a:off x="2286000" y="2255836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2479040" y="2081530"/>
            <a:ext cx="4572000" cy="54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2743200" y="3559614"/>
            <a:ext cx="3657600" cy="874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TEAM NAME :</a:t>
            </a:r>
            <a:r>
              <a:rPr sz="1400">
                <a:solidFill>
                  <a:srgbClr val="C7D6E0"/>
                </a:solidFill>
                <a:latin typeface="Bookman Old Style" panose="02050604050505020204"/>
              </a:rPr>
              <a:t>  </a:t>
            </a:r>
            <a:r>
              <a:rPr lang="en-US" altLang="en-US" sz="1400">
                <a:solidFill>
                  <a:srgbClr val="C7D6E0"/>
                </a:solidFill>
                <a:latin typeface="Bookman Old Style" panose="02050604050505020204"/>
              </a:rPr>
              <a:t>beta01</a:t>
            </a:r>
            <a:endParaRPr lang="en-US" altLang="en-US" sz="1400">
              <a:solidFill>
                <a:srgbClr val="C7D6E0"/>
              </a:solidFill>
              <a:latin typeface="Bookman Old Style" panose="02050604050505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lt1"/>
              </a:solidFill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  <a:t>TEAM MEMBERS :</a:t>
            </a:r>
            <a:r>
              <a:rPr sz="1400">
                <a:solidFill>
                  <a:srgbClr val="C7D6E0"/>
                </a:solidFill>
                <a:latin typeface="Bookman Old Style" panose="02050604050505020204"/>
              </a:rPr>
              <a:t>  Jyoti Nayak, Nishita</a:t>
            </a:r>
            <a:endParaRPr sz="1400">
              <a:solidFill>
                <a:srgbClr val="C7D6E0"/>
              </a:solidFill>
              <a:latin typeface="Bookman Old Style" panose="02050604050505020204"/>
            </a:endParaRPr>
          </a:p>
        </p:txBody>
      </p:sp>
      <p:pic>
        <p:nvPicPr>
          <p:cNvPr id="53" name="Google Shape;53;p1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pic>
        <p:nvPicPr>
          <p:cNvPr id="54" name="Google Shape;54;p1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1497076" y="2625344"/>
            <a:ext cx="6272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ECFCF"/>
                </a:solidFill>
                <a:latin typeface="Arial" panose="020B0604020202020204"/>
              </a:rPr>
              <a:t>Autonomous Research, Decision &amp; Execution Agent</a:t>
            </a:r>
            <a:endParaRPr sz="1500" b="1" i="0">
              <a:solidFill>
                <a:srgbClr val="3ECFCF"/>
              </a:solidFill>
              <a:latin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514221" y="3180334"/>
            <a:ext cx="6272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Arial" panose="020B0604020202020204"/>
              </a:rPr>
              <a:t>"From Idea to Execution — an AI Agent That Thinks, Plans, Acts, Learns, and Adapts."</a:t>
            </a:r>
            <a:endParaRPr sz="1050" b="0" i="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2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2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6">
            <a:alphaModFix amt="2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2" name="Google Shape;82;p2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descr="preencoded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300037" y="106568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432197" y="1075134"/>
            <a:ext cx="8279700" cy="3707700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5" name="Google Shape;85;p2" descr="preencoded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 descr="preencoded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preencoded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preencoded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 descr="preencoded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descr="preencoded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preencoded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 panose="020B0604020202020204"/>
              <a:buNone/>
            </a:pPr>
            <a:r>
              <a:rPr lang="en-US" sz="169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</a:t>
            </a:r>
            <a:endParaRPr sz="169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 panose="020F0502020204030204"/>
              <a:buNone/>
            </a:pP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713232" y="1371600"/>
            <a:ext cx="75895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FFFFFF"/>
                </a:solidFill>
                <a:latin typeface="Arial" panose="020B0604020202020204"/>
              </a:rPr>
              <a:t>Planning a real project (an AI/ML build, a hackathon MVP) gets hard the moment real-world constraints show up: limited days, limited budget, no GPU, a small team.</a:t>
            </a:r>
            <a:endParaRPr sz="15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FFFFFF"/>
                </a:solidFill>
                <a:latin typeface="Arial" panose="020B0604020202020204"/>
              </a:rPr>
              <a:t>Most planning tools stop at a single static roadmap — no justification for the technology choices, and no adaptation when a constraint changes mid-project.</a:t>
            </a:r>
            <a:endParaRPr sz="15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FFFFFF"/>
                </a:solidFill>
                <a:latin typeface="Arial" panose="020B0604020202020204"/>
              </a:rPr>
              <a:t>A blocker (GPU turns out unavailable, budget gets cut, a teammate leaves) means restarting the planning process over again, manually.</a:t>
            </a:r>
            <a:endParaRPr sz="15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FFFFFF"/>
                </a:solidFill>
                <a:latin typeface="Arial" panose="020B0604020202020204"/>
              </a:rPr>
              <a:t>There is no way to preview the impact of a change before committing to it.</a:t>
            </a:r>
            <a:endParaRPr sz="1500" b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3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3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p3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3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3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3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3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3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3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3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2" name="Google Shape;122;p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29" name="Google Shape;129;p3" descr="preencoded.png"/>
          <p:cNvPicPr preferRelativeResize="0"/>
          <p:nvPr/>
        </p:nvPicPr>
        <p:blipFill rotWithShape="1">
          <a:blip r:embed="rId6">
            <a:alphaModFix amt="2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2" name="Google Shape;132;p3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" descr="preencoded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217215" y="105686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5" name="Google Shape;135;p3" descr="preencoded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 descr="preencoded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 descr="preencoded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 descr="preencoded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 descr="preencoded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 descr="preencoded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" descr="preencoded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9" name="Google Shape;149;p3" descr="preencoded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 panose="020B0604020202020204"/>
              <a:buNone/>
            </a:pPr>
            <a:r>
              <a:rPr lang="en-US" sz="169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SOLUTION</a:t>
            </a:r>
            <a:endParaRPr sz="169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 panose="020F0502020204030204"/>
              <a:buNone/>
            </a:pP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3" name="Google Shape;153;p3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"/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155" name="TextBox 154"/>
          <p:cNvSpPr txBox="1"/>
          <p:nvPr/>
        </p:nvSpPr>
        <p:spPr>
          <a:xfrm>
            <a:off x="713232" y="132588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3ECFCF"/>
                </a:solidFill>
                <a:latin typeface="Arial" panose="020B0604020202020204"/>
              </a:rPr>
              <a:t>NEXUS — an agent that plans, debates, decides, executes, and adapts.</a:t>
            </a:r>
            <a:endParaRPr sz="1450" b="1" i="0">
              <a:solidFill>
                <a:srgbClr val="3ECFCF"/>
              </a:solidFill>
              <a:latin typeface="Arial" panose="020B0604020202020204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13232" y="1783080"/>
            <a:ext cx="75895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2000"/>
              </a:lnSpc>
              <a:spcAft>
                <a:spcPts val="10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400" b="0">
                <a:solidFill>
                  <a:srgbClr val="FFFFFF"/>
                </a:solidFill>
                <a:latin typeface="Arial" panose="020B0604020202020204"/>
              </a:rPr>
              <a:t>Goal Decomposition — breaks the goal into phases &amp; tasks, scaled to the real hours available (auto MVP-mode under a tight timeline).</a:t>
            </a:r>
            <a:endParaRPr sz="14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12000"/>
              </a:lnSpc>
              <a:spcAft>
                <a:spcPts val="10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400" b="0">
                <a:solidFill>
                  <a:srgbClr val="FFFFFF"/>
                </a:solidFill>
                <a:latin typeface="Arial" panose="020B0604020202020204"/>
              </a:rPr>
              <a:t>Multi-Agent Debate — Research, Cost, Technical &amp; Risk agents argue every key decision; a Final Decision agent picks a winner with a stated rationale.</a:t>
            </a:r>
            <a:endParaRPr sz="14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12000"/>
              </a:lnSpc>
              <a:spcAft>
                <a:spcPts val="10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400" b="0">
                <a:solidFill>
                  <a:srgbClr val="FFFFFF"/>
                </a:solidFill>
                <a:latin typeface="Arial" panose="020B0604020202020204"/>
              </a:rPr>
              <a:t>What-If Simulation — previews the impact of a changed constraint (budget, GPU, deadline, team) before committing.</a:t>
            </a:r>
            <a:endParaRPr sz="14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12000"/>
              </a:lnSpc>
              <a:spcAft>
                <a:spcPts val="10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400" b="0">
                <a:solidFill>
                  <a:srgbClr val="FFFFFF"/>
                </a:solidFill>
                <a:latin typeface="Arial" panose="020B0604020202020204"/>
              </a:rPr>
              <a:t>Self-Correcting Replanning — a reported blocker is detected, the debate re-runs, and the plan updates live with a before/after diff.</a:t>
            </a:r>
            <a:endParaRPr sz="1400" b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4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4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4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Google Shape;165;p4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66;p4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Google Shape;167;p4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8" name="Google Shape;168;p4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Google Shape;169;p4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" name="Google Shape;170;p4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4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2" name="Google Shape;172;p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4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9" name="Google Shape;179;p4" descr="preencoded.png"/>
          <p:cNvPicPr preferRelativeResize="0"/>
          <p:nvPr/>
        </p:nvPicPr>
        <p:blipFill rotWithShape="1">
          <a:blip r:embed="rId6">
            <a:alphaModFix amt="2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/>
          <p:nvPr/>
        </p:nvSpPr>
        <p:spPr>
          <a:xfrm>
            <a:off x="-311467" y="15627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2" name="Google Shape;182;p4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" descr="preencoded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28625" y="1071563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5" name="Google Shape;185;p4" descr="preencoded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4" descr="preencoded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 descr="preencoded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4" descr="preencoded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4" descr="preencoded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 descr="preencoded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" descr="preencoded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9" name="Google Shape;199;p4" descr="preencoded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1887847" y="559389"/>
            <a:ext cx="5300391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"/>
          <p:cNvSpPr/>
          <p:nvPr/>
        </p:nvSpPr>
        <p:spPr>
          <a:xfrm>
            <a:off x="1899055" y="552358"/>
            <a:ext cx="5278960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1767123" y="657224"/>
            <a:ext cx="5650180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 panose="020B0604020202020204"/>
              <a:buNone/>
            </a:pPr>
            <a:r>
              <a:rPr lang="en-US" sz="169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ARCHITECTURE</a:t>
            </a:r>
            <a:endParaRPr sz="169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 panose="020F0502020204030204"/>
              <a:buNone/>
            </a:pP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3" name="Google Shape;203;p4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"/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205" name="Rounded Rectangle 204"/>
          <p:cNvSpPr/>
          <p:nvPr/>
        </p:nvSpPr>
        <p:spPr>
          <a:xfrm>
            <a:off x="1051560" y="1298448"/>
            <a:ext cx="6309360" cy="457200"/>
          </a:xfrm>
          <a:prstGeom prst="roundRect">
            <a:avLst>
              <a:gd name="adj" fmla="val 18000"/>
            </a:avLst>
          </a:prstGeom>
          <a:solidFill>
            <a:srgbClr val="0B1A2A"/>
          </a:solidFill>
          <a:ln w="13970">
            <a:solidFill>
              <a:srgbClr val="3E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 panose="020B0604020202020204"/>
              </a:rPr>
              <a:t>USER</a:t>
            </a:r>
            <a:endParaRPr sz="1150" b="1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870">
                <a:solidFill>
                  <a:srgbClr val="C7D6E0"/>
                </a:solidFill>
                <a:latin typeface="Arial" panose="020B0604020202020204"/>
              </a:rPr>
              <a:t>Goal + constraints: days, budget, GPU, team</a:t>
            </a:r>
            <a:endParaRPr sz="870">
              <a:solidFill>
                <a:srgbClr val="C7D6E0"/>
              </a:solidFill>
              <a:latin typeface="Arial" panose="020B0604020202020204"/>
            </a:endParaRPr>
          </a:p>
        </p:txBody>
      </p:sp>
      <p:sp>
        <p:nvSpPr>
          <p:cNvPr id="206" name="Down Arrow 205"/>
          <p:cNvSpPr/>
          <p:nvPr/>
        </p:nvSpPr>
        <p:spPr>
          <a:xfrm>
            <a:off x="4114800" y="1773936"/>
            <a:ext cx="182880" cy="155448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1051560" y="1888236"/>
            <a:ext cx="6309360" cy="457200"/>
          </a:xfrm>
          <a:prstGeom prst="roundRect">
            <a:avLst>
              <a:gd name="adj" fmla="val 18000"/>
            </a:avLst>
          </a:prstGeom>
          <a:solidFill>
            <a:srgbClr val="0B1A2A"/>
          </a:solidFill>
          <a:ln w="13970">
            <a:solidFill>
              <a:srgbClr val="3E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 panose="020B0604020202020204"/>
              </a:rPr>
              <a:t>REACT FRONTEND (Vite)</a:t>
            </a:r>
            <a:endParaRPr sz="1150" b="1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870">
                <a:solidFill>
                  <a:srgbClr val="C7D6E0"/>
                </a:solidFill>
                <a:latin typeface="Arial" panose="020B0604020202020204"/>
              </a:rPr>
              <a:t>6 tabs — Plan / Debate / Research / What-if / Adapt / Log</a:t>
            </a:r>
            <a:endParaRPr sz="870">
              <a:solidFill>
                <a:srgbClr val="C7D6E0"/>
              </a:solidFill>
              <a:latin typeface="Arial" panose="020B0604020202020204"/>
            </a:endParaRPr>
          </a:p>
        </p:txBody>
      </p:sp>
      <p:sp>
        <p:nvSpPr>
          <p:cNvPr id="208" name="Down Arrow 207"/>
          <p:cNvSpPr/>
          <p:nvPr/>
        </p:nvSpPr>
        <p:spPr>
          <a:xfrm>
            <a:off x="4114800" y="2363724"/>
            <a:ext cx="182880" cy="155448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051560" y="2478024"/>
            <a:ext cx="6309360" cy="457200"/>
          </a:xfrm>
          <a:prstGeom prst="roundRect">
            <a:avLst>
              <a:gd name="adj" fmla="val 18000"/>
            </a:avLst>
          </a:prstGeom>
          <a:solidFill>
            <a:srgbClr val="0B1A2A"/>
          </a:solidFill>
          <a:ln w="13970">
            <a:solidFill>
              <a:srgbClr val="3E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 panose="020B0604020202020204"/>
              </a:rPr>
              <a:t>FASTAPI BACKEND</a:t>
            </a:r>
            <a:endParaRPr sz="1150" b="1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870">
                <a:solidFill>
                  <a:srgbClr val="C7D6E0"/>
                </a:solidFill>
                <a:latin typeface="Arial" panose="020B0604020202020204"/>
              </a:rPr>
              <a:t>REST API + in-memory Mission Store</a:t>
            </a:r>
            <a:endParaRPr sz="870">
              <a:solidFill>
                <a:srgbClr val="C7D6E0"/>
              </a:solidFill>
              <a:latin typeface="Arial" panose="020B0604020202020204"/>
            </a:endParaRPr>
          </a:p>
        </p:txBody>
      </p:sp>
      <p:sp>
        <p:nvSpPr>
          <p:cNvPr id="210" name="Down Arrow 209"/>
          <p:cNvSpPr/>
          <p:nvPr/>
        </p:nvSpPr>
        <p:spPr>
          <a:xfrm>
            <a:off x="4114800" y="2953512"/>
            <a:ext cx="182880" cy="155448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051560" y="3067812"/>
            <a:ext cx="6309360" cy="457200"/>
          </a:xfrm>
          <a:prstGeom prst="roundRect">
            <a:avLst>
              <a:gd name="adj" fmla="val 18000"/>
            </a:avLst>
          </a:prstGeom>
          <a:solidFill>
            <a:srgbClr val="0B1A2A"/>
          </a:solidFill>
          <a:ln w="13970">
            <a:solidFill>
              <a:srgbClr val="3E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 panose="020B0604020202020204"/>
              </a:rPr>
              <a:t>ORCHESTRATOR</a:t>
            </a:r>
            <a:endParaRPr sz="1150" b="1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870">
                <a:solidFill>
                  <a:srgbClr val="C7D6E0"/>
                </a:solidFill>
                <a:latin typeface="Arial" panose="020B0604020202020204"/>
              </a:rPr>
              <a:t>Research → Debate (4 agents) → Decompose → Simulate → Replan</a:t>
            </a:r>
            <a:endParaRPr sz="870">
              <a:solidFill>
                <a:srgbClr val="C7D6E0"/>
              </a:solidFill>
              <a:latin typeface="Arial" panose="020B0604020202020204"/>
            </a:endParaRPr>
          </a:p>
        </p:txBody>
      </p:sp>
      <p:sp>
        <p:nvSpPr>
          <p:cNvPr id="212" name="Down Arrow 211"/>
          <p:cNvSpPr/>
          <p:nvPr/>
        </p:nvSpPr>
        <p:spPr>
          <a:xfrm>
            <a:off x="4114800" y="3543300"/>
            <a:ext cx="182880" cy="155448"/>
          </a:xfrm>
          <a:prstGeom prst="downArrow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1051560" y="3657600"/>
            <a:ext cx="6309360" cy="457200"/>
          </a:xfrm>
          <a:prstGeom prst="roundRect">
            <a:avLst>
              <a:gd name="adj" fmla="val 18000"/>
            </a:avLst>
          </a:prstGeom>
          <a:solidFill>
            <a:srgbClr val="0B1A2A"/>
          </a:solidFill>
          <a:ln w="13970">
            <a:solidFill>
              <a:srgbClr val="3E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 panose="020B0604020202020204"/>
              </a:rPr>
              <a:t>LIVE PLAN</a:t>
            </a:r>
            <a:endParaRPr sz="1150" b="1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870">
                <a:solidFill>
                  <a:srgbClr val="C7D6E0"/>
                </a:solidFill>
                <a:latin typeface="Arial" panose="020B0604020202020204"/>
              </a:rPr>
              <a:t>Delivered back to the UI — loops back to Orchestrator on a blocker</a:t>
            </a:r>
            <a:endParaRPr sz="870">
              <a:solidFill>
                <a:srgbClr val="C7D6E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5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5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5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5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5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p5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5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5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5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5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2" name="Google Shape;222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5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29" name="Google Shape;229;p5" descr="preencoded.png"/>
          <p:cNvPicPr preferRelativeResize="0"/>
          <p:nvPr/>
        </p:nvPicPr>
        <p:blipFill rotWithShape="1">
          <a:blip r:embed="rId6">
            <a:alphaModFix amt="2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2" name="Google Shape;232;p5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" descr="preencoded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28625" y="1071563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5" name="Google Shape;235;p5" descr="preencoded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" descr="preencoded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 descr="preencoded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" descr="preencoded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 descr="preencoded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" descr="preencoded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5" descr="preencoded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9" name="Google Shape;249;p5" descr="preencoded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 panose="020B0604020202020204"/>
              <a:buNone/>
            </a:pPr>
            <a:r>
              <a:rPr lang="en-US" sz="169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TECHNOLOGY USED</a:t>
            </a:r>
            <a:endParaRPr sz="169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 panose="020F0502020204030204"/>
              <a:buNone/>
            </a:pP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53" name="Google Shape;253;p5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255" name="TextBox 254"/>
          <p:cNvSpPr txBox="1"/>
          <p:nvPr/>
        </p:nvSpPr>
        <p:spPr>
          <a:xfrm>
            <a:off x="713232" y="1371600"/>
            <a:ext cx="75895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FFFFFF"/>
                </a:solidFill>
                <a:latin typeface="Arial" panose="020B0604020202020204"/>
              </a:rPr>
              <a:t>Frontend — React 18 + Vite, custom CSS design system (no UI kit)</a:t>
            </a:r>
            <a:endParaRPr sz="15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FFFFFF"/>
                </a:solidFill>
                <a:latin typeface="Arial" panose="020B0604020202020204"/>
              </a:rPr>
              <a:t>Backend — Python, FastAPI, Pydantic — REST API + in-memory mission store</a:t>
            </a:r>
            <a:endParaRPr sz="15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FFFFFF"/>
                </a:solidFill>
                <a:latin typeface="Arial" panose="020B0604020202020204"/>
              </a:rPr>
              <a:t>Reasoning Engine — deterministic rule-based agent logic today; pluggable — swap in Anthropic Claude via one environment variable, zero code changes elsewhere</a:t>
            </a:r>
            <a:endParaRPr sz="15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500" b="0">
                <a:solidFill>
                  <a:srgbClr val="FFFFFF"/>
                </a:solidFill>
                <a:latin typeface="Arial" panose="020B0604020202020204"/>
              </a:rPr>
              <a:t>Dev Tooling — Uvicorn + Vite dev server, runs locally on ports 8420 (API) and 5174 (UI)</a:t>
            </a:r>
            <a:endParaRPr sz="1500" b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5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5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5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5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5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p5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5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5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5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5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22" name="Google Shape;222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5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5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29" name="Google Shape;229;p5" descr="preencoded.png"/>
          <p:cNvPicPr preferRelativeResize="0"/>
          <p:nvPr/>
        </p:nvPicPr>
        <p:blipFill rotWithShape="1">
          <a:blip r:embed="rId6">
            <a:alphaModFix amt="2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2" name="Google Shape;232;p5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" descr="preencoded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713105" y="1067753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5" name="Google Shape;235;p5" descr="preencoded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" descr="preencoded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 descr="preencoded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" descr="preencoded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 descr="preencoded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" descr="preencoded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5" descr="preencoded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1104900" y="2728595"/>
            <a:ext cx="6143625" cy="50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900" i="1" dirty="0">
                <a:solidFill>
                  <a:srgbClr val="E8DCC8"/>
                </a:solidFill>
              </a:rPr>
              <a:t>https://drive.google.com/file/d/12IITsF37xMizd9U7Slz7aMFCPthb26DJ/view?usp=sharing</a:t>
            </a:r>
            <a:r>
              <a:rPr lang="en-US" sz="900" i="1" dirty="0">
                <a:solidFill>
                  <a:srgbClr val="E8DCC8"/>
                </a:solidFill>
              </a:rPr>
              <a:t> </a:t>
            </a:r>
            <a:endParaRPr sz="9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9" name="Google Shape;249;p5" descr="preencoded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 panose="020B0604020202020204"/>
              <a:buNone/>
            </a:pPr>
            <a:r>
              <a:rPr lang="en-US" sz="169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WORKING PROTOTYPE</a:t>
            </a:r>
            <a:endParaRPr sz="169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 panose="020F0502020204030204"/>
              <a:buNone/>
            </a:pP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53" name="Google Shape;253;p5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255" name="TextBox 254"/>
          <p:cNvSpPr txBox="1"/>
          <p:nvPr/>
        </p:nvSpPr>
        <p:spPr>
          <a:xfrm>
            <a:off x="713232" y="1298448"/>
            <a:ext cx="75895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6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250" b="0">
                <a:solidFill>
                  <a:srgbClr val="FFFFFF"/>
                </a:solidFill>
                <a:latin typeface="Arial" panose="020B0604020202020204"/>
              </a:rPr>
              <a:t>Plan — phase/task breakdown with live progress tracking</a:t>
            </a:r>
            <a:endParaRPr sz="125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08000"/>
              </a:lnSpc>
              <a:spcAft>
                <a:spcPts val="6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250" b="0">
                <a:solidFill>
                  <a:srgbClr val="FFFFFF"/>
                </a:solidFill>
                <a:latin typeface="Arial" panose="020B0604020202020204"/>
              </a:rPr>
              <a:t>Debate — 4 agents argue, Final Decision highlighted with rationale</a:t>
            </a:r>
            <a:endParaRPr sz="125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08000"/>
              </a:lnSpc>
              <a:spcAft>
                <a:spcPts val="6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250" b="0">
                <a:solidFill>
                  <a:srgbClr val="FFFFFF"/>
                </a:solidFill>
                <a:latin typeface="Arial" panose="020B0604020202020204"/>
              </a:rPr>
              <a:t>What-if &amp; Adapt — simulate scenarios, self-correct on real blockers</a:t>
            </a:r>
            <a:endParaRPr sz="125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08000"/>
              </a:lnSpc>
              <a:spcAft>
                <a:spcPts val="6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250" b="0">
                <a:solidFill>
                  <a:srgbClr val="FFFFFF"/>
                </a:solidFill>
                <a:latin typeface="Arial" panose="020B0604020202020204"/>
              </a:rPr>
              <a:t>Research &amp; Log — evidence cards + full mission narrative</a:t>
            </a:r>
            <a:endParaRPr sz="125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713232" y="3310128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C7D6E0"/>
                </a:solidFill>
                <a:latin typeface="Arial" panose="020B0604020202020204"/>
              </a:rPr>
              <a:t>Verified end to end in-browser: goal → plan → debate → what-if → adaptive replan.</a:t>
            </a:r>
            <a:endParaRPr sz="1050" b="0" i="1">
              <a:solidFill>
                <a:srgbClr val="C7D6E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6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" name="Google Shape;263;p6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4" name="Google Shape;264;p6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6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66;p6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6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8" name="Google Shape;268;p6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6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70;p6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6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2" name="Google Shape;272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>
            <a:fillRect/>
          </a:stretch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6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79" name="Google Shape;279;p6" descr="preencoded.png"/>
          <p:cNvPicPr preferRelativeResize="0"/>
          <p:nvPr/>
        </p:nvPicPr>
        <p:blipFill rotWithShape="1">
          <a:blip r:embed="rId6">
            <a:alphaModFix amt="2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82" name="Google Shape;282;p6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 descr="preencoded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28625" y="1071563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6"/>
          <p:cNvSpPr/>
          <p:nvPr/>
        </p:nvSpPr>
        <p:spPr>
          <a:xfrm>
            <a:off x="432197" y="1075134"/>
            <a:ext cx="8279606" cy="3707606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85" name="Google Shape;285;p6" descr="preencoded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 descr="preencoded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 descr="preencoded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 descr="preencoded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6" descr="preencoded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6" descr="preencoded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6" descr="preencoded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6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99" name="Google Shape;299;p6" descr="preencoded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003166" y="678656"/>
            <a:ext cx="3234083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 panose="020B0604020202020204"/>
              <a:buNone/>
            </a:pPr>
            <a:r>
              <a:rPr lang="en-US" sz="1690" b="1" dirty="0">
                <a:solidFill>
                  <a:srgbClr val="FFFFFF"/>
                </a:solidFill>
                <a:ea typeface="Calibri" panose="020F0502020204030204"/>
              </a:rPr>
              <a:t>UTILITY/SCALABILITY</a:t>
            </a:r>
            <a:endParaRPr sz="169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 panose="020F0502020204030204"/>
              <a:buNone/>
            </a:pP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03" name="Google Shape;303;p6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6"/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305" name="TextBox 304"/>
          <p:cNvSpPr txBox="1"/>
          <p:nvPr/>
        </p:nvSpPr>
        <p:spPr>
          <a:xfrm>
            <a:off x="713232" y="1298448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ECFCF"/>
                </a:solidFill>
                <a:latin typeface="Arial" panose="020B0604020202020204"/>
              </a:rPr>
              <a:t>Who benefits</a:t>
            </a:r>
            <a:endParaRPr sz="1350" b="1" i="0">
              <a:solidFill>
                <a:srgbClr val="3ECFCF"/>
              </a:solidFill>
              <a:latin typeface="Arial" panose="020B0604020202020204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713232" y="1572768"/>
            <a:ext cx="7589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5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FFFFFF"/>
                </a:solidFill>
                <a:latin typeface="Arial" panose="020B0604020202020204"/>
              </a:rPr>
              <a:t>Students &amp; hackathon teams planning a time-boxed build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08000"/>
              </a:lnSpc>
              <a:spcAft>
                <a:spcPts val="5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FFFFFF"/>
                </a:solidFill>
                <a:latin typeface="Arial" panose="020B0604020202020204"/>
              </a:rPr>
              <a:t>Solo builders with a fixed budget and no dedicated team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08000"/>
              </a:lnSpc>
              <a:spcAft>
                <a:spcPts val="5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FFFFFF"/>
                </a:solidFill>
                <a:latin typeface="Arial" panose="020B0604020202020204"/>
              </a:rPr>
              <a:t>Small teams needing skill-based task splits that survive real surprises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713232" y="2788920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ECFCF"/>
                </a:solidFill>
                <a:latin typeface="Arial" panose="020B0604020202020204"/>
              </a:rPr>
              <a:t>Scalability &amp; what's next</a:t>
            </a:r>
            <a:endParaRPr sz="1350" b="1" i="0">
              <a:solidFill>
                <a:srgbClr val="3ECFCF"/>
              </a:solidFill>
              <a:latin typeface="Arial" panose="020B0604020202020204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713232" y="3063240"/>
            <a:ext cx="75895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5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FFFFFF"/>
                </a:solidFill>
                <a:latin typeface="Arial" panose="020B0604020202020204"/>
              </a:rPr>
              <a:t>Real Claude reasoning — one environment variable away, zero other code changes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08000"/>
              </a:lnSpc>
              <a:spcAft>
                <a:spcPts val="5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FFFFFF"/>
                </a:solidFill>
                <a:latin typeface="Arial" panose="020B0604020202020204"/>
              </a:rPr>
              <a:t>Persistent database + multi-user auth for team-wide use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  <a:p>
            <a:pPr marL="228600" indent="-228600" algn="l">
              <a:lnSpc>
                <a:spcPct val="108000"/>
              </a:lnSpc>
              <a:spcAft>
                <a:spcPts val="500"/>
              </a:spcAft>
              <a:buClr>
                <a:srgbClr val="3ECFCF"/>
              </a:buClr>
              <a:buFont typeface="Arial" panose="020B0604020202020204"/>
              <a:buChar char="•"/>
            </a:pPr>
            <a:r>
              <a:rPr sz="1300" b="0">
                <a:solidFill>
                  <a:srgbClr val="FFFFFF"/>
                </a:solidFill>
                <a:latin typeface="Arial" panose="020B0604020202020204"/>
              </a:rPr>
              <a:t>Automatic task reallocation on team delays; export plans to PDF / Notion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2933</Words>
  <Application>WPS Presentation</Application>
  <PresentationFormat>On-screen Show (16:9)</PresentationFormat>
  <Paragraphs>77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Quattrocento Sans</vt:lpstr>
      <vt:lpstr>Bookman Old Style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PptxGenJS</dc:creator>
  <cp:lastModifiedBy>rajes</cp:lastModifiedBy>
  <cp:revision>4</cp:revision>
  <dcterms:created xsi:type="dcterms:W3CDTF">2026-07-08T11:23:00Z</dcterms:created>
  <dcterms:modified xsi:type="dcterms:W3CDTF">2026-07-22T10:26:18Z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5800E50A75FF4D6ABC46FBA4D47228D9_12</vt:lpwstr>
  </property>
</Properties>
</file>